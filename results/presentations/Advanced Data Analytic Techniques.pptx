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Times New Roman MT" panose="020B0604020202020204" charset="0"/>
      <p:regular r:id="rId14"/>
    </p:embeddedFont>
    <p:embeddedFont>
      <p:font typeface="Times New Roman MT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533" y="-25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4849" y="-4690741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CF4">
                <a:alpha val="6667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1019175"/>
            <a:ext cx="16139196" cy="0"/>
          </a:xfrm>
          <a:prstGeom prst="line">
            <a:avLst/>
          </a:prstGeom>
          <a:ln w="57150" cap="flat">
            <a:solidFill>
              <a:srgbClr val="4356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519850" y="3052842"/>
            <a:ext cx="15030999" cy="4006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66"/>
              </a:lnSpc>
            </a:pPr>
            <a:r>
              <a:rPr lang="en-US" sz="4377" b="1" spc="157" dirty="0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Title: Detection of AI-Generated Arabic Text</a:t>
            </a:r>
          </a:p>
          <a:p>
            <a:pPr algn="ctr">
              <a:lnSpc>
                <a:spcPts val="7966"/>
              </a:lnSpc>
            </a:pPr>
            <a:r>
              <a:rPr lang="en-US" sz="4377" b="1" spc="157" dirty="0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Advanced Data Analytic Techniques</a:t>
            </a:r>
          </a:p>
          <a:p>
            <a:pPr algn="ctr">
              <a:lnSpc>
                <a:spcPts val="7966"/>
              </a:lnSpc>
            </a:pPr>
            <a:r>
              <a:rPr lang="en-US" sz="4377" b="1" spc="157" dirty="0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Presented by: Sohila Mohey Mahmoud</a:t>
            </a:r>
          </a:p>
          <a:p>
            <a:pPr algn="ctr">
              <a:lnSpc>
                <a:spcPts val="7966"/>
              </a:lnSpc>
            </a:pPr>
            <a:endParaRPr lang="en-US" sz="4377" b="1" spc="157" dirty="0">
              <a:solidFill>
                <a:srgbClr val="435663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028700" y="92487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657899" y="2389457"/>
            <a:ext cx="4680499" cy="6064562"/>
          </a:xfrm>
          <a:custGeom>
            <a:avLst/>
            <a:gdLst/>
            <a:ahLst/>
            <a:cxnLst/>
            <a:rect l="l" t="t" r="r" b="b"/>
            <a:pathLst>
              <a:path w="4680499" h="6064562">
                <a:moveTo>
                  <a:pt x="0" y="0"/>
                </a:moveTo>
                <a:lnTo>
                  <a:pt x="4680499" y="0"/>
                </a:lnTo>
                <a:lnTo>
                  <a:pt x="4680499" y="6064562"/>
                </a:lnTo>
                <a:lnTo>
                  <a:pt x="0" y="60645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1510893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9650" y="2798375"/>
            <a:ext cx="11191464" cy="579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6194" lvl="1" indent="-393097" algn="l">
              <a:lnSpc>
                <a:spcPts val="5025"/>
              </a:lnSpc>
              <a:buFont typeface="Arial"/>
              <a:buChar char="•"/>
            </a:pPr>
            <a:r>
              <a:rPr lang="en-US" sz="3641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641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rabic AI-text detection is still underdeveloped compared to English.</a:t>
            </a:r>
          </a:p>
          <a:p>
            <a:pPr marL="786194" lvl="1" indent="-393097" algn="l">
              <a:lnSpc>
                <a:spcPts val="5025"/>
              </a:lnSpc>
              <a:buFont typeface="Arial"/>
              <a:buChar char="•"/>
            </a:pPr>
            <a:r>
              <a:rPr lang="en-US" sz="3641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Large Language Models (LLMs) like GPT-4, LLaMA, Jais can generate Arabic text almost identical to human writing.</a:t>
            </a:r>
          </a:p>
          <a:p>
            <a:pPr marL="786194" lvl="1" indent="-393097" algn="l">
              <a:lnSpc>
                <a:spcPts val="5025"/>
              </a:lnSpc>
              <a:buFont typeface="Arial"/>
              <a:buChar char="•"/>
            </a:pPr>
            <a:r>
              <a:rPr lang="en-US" sz="3641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lack of annotated Arabic datasets makes it difficult to detect AI-generated content.</a:t>
            </a:r>
          </a:p>
          <a:p>
            <a:pPr marL="786194" lvl="1" indent="-393097" algn="l">
              <a:lnSpc>
                <a:spcPts val="5025"/>
              </a:lnSpc>
              <a:buFont typeface="Arial"/>
              <a:buChar char="•"/>
            </a:pPr>
            <a:r>
              <a:rPr lang="en-US" sz="3641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raises risks in academic integrity, fake research, and digital misinformation.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386213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Preprocessing &amp; Data Normalization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453055"/>
            <a:ext cx="16766112" cy="6337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359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multi-stage preprocessing pipeline was implemented to handle the linguistic complexity of Arabic:</a:t>
            </a:r>
          </a:p>
          <a:p>
            <a:pPr marL="777237" lvl="1" indent="-388618" algn="l">
              <a:lnSpc>
                <a:spcPts val="4967"/>
              </a:lnSpc>
              <a:buFont typeface="Arial"/>
              <a:buChar char="•"/>
            </a:pPr>
            <a:r>
              <a:rPr lang="en-US" sz="3599" b="1" u="none" strike="noStrike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Text Normalization: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Unify letter forms (</a:t>
            </a:r>
            <a:r>
              <a:rPr lang="ar-EG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  <a:rtl/>
              </a:rPr>
              <a:t>أ / إ / آ → ا, ى → ي, ة → ه</a:t>
            </a:r>
            <a:r>
              <a:rPr lang="en-US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).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 diacritics (tashkeel), digits, and special symbols.</a:t>
            </a:r>
          </a:p>
          <a:p>
            <a:pPr marL="777237" lvl="1" indent="-388618" algn="l">
              <a:lnSpc>
                <a:spcPts val="4967"/>
              </a:lnSpc>
              <a:buFont typeface="Arial"/>
              <a:buChar char="•"/>
            </a:pPr>
            <a:r>
              <a:rPr lang="en-US" sz="3599" b="1" u="none" strike="noStrike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Structural Cleaning: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 HTML tags, URLs, and email addresses.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Delete repeated punctuation and character elongations.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Normalize whitespace.</a:t>
            </a:r>
          </a:p>
          <a:p>
            <a:pPr algn="l">
              <a:lnSpc>
                <a:spcPts val="4967"/>
              </a:lnSpc>
            </a:pPr>
            <a:endParaRPr lang="en-US" sz="3599" u="none" strike="noStrike">
              <a:solidFill>
                <a:srgbClr val="FFFCF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1028700" y="9429857"/>
            <a:ext cx="16139196" cy="9525"/>
          </a:xfrm>
          <a:prstGeom prst="line">
            <a:avLst/>
          </a:prstGeom>
          <a:ln w="76200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348113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Preprocessing &amp; Data Normalization Con’t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389543"/>
            <a:ext cx="16766112" cy="507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7" lvl="1" indent="-388618" algn="l">
              <a:lnSpc>
                <a:spcPts val="4967"/>
              </a:lnSpc>
              <a:buFont typeface="Arial"/>
              <a:buChar char="•"/>
            </a:pPr>
            <a:r>
              <a:rPr lang="en-US" sz="3599" b="1" u="none" strike="noStrike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Tokenization &amp; Stopword Removal: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Used NLTK Arabic tokenizer and extended stopword lists (NLTK + GitHub custom).</a:t>
            </a:r>
          </a:p>
          <a:p>
            <a:pPr marL="777237" lvl="1" indent="-388618" algn="l">
              <a:lnSpc>
                <a:spcPts val="4967"/>
              </a:lnSpc>
              <a:buFont typeface="Arial"/>
              <a:buChar char="•"/>
            </a:pPr>
            <a:r>
              <a:rPr lang="en-US" sz="3599" b="1" u="none" strike="noStrike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Morphological Processing: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ISRI stemming to reduce words to root forms.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Stanza lemmatization to preserve grammatical meaning.</a:t>
            </a:r>
          </a:p>
          <a:p>
            <a:pPr marL="777237" lvl="1" indent="-388618" algn="l">
              <a:lnSpc>
                <a:spcPts val="4967"/>
              </a:lnSpc>
              <a:buFont typeface="Arial"/>
              <a:buChar char="•"/>
            </a:pPr>
            <a:r>
              <a:rPr lang="en-US" sz="3599" b="1" u="none" strike="noStrike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Quality Assurance: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Logs were used to track preprocessing errors.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1028700" y="9318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V="1">
            <a:off x="1028700" y="9429857"/>
            <a:ext cx="16139196" cy="9525"/>
          </a:xfrm>
          <a:prstGeom prst="line">
            <a:avLst/>
          </a:prstGeom>
          <a:ln w="76200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95535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237172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Feature Engineering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2405" y="2112435"/>
            <a:ext cx="16546895" cy="507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2" lvl="1" indent="-388621" algn="l">
              <a:lnSpc>
                <a:spcPts val="4968"/>
              </a:lnSpc>
              <a:buAutoNum type="arabicPeriod"/>
            </a:pPr>
            <a:r>
              <a:rPr lang="en-US" sz="3600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Short Word Ratio (≤ 3 letters)</a:t>
            </a:r>
          </a:p>
          <a:p>
            <a:pPr marL="777242" lvl="1" indent="-388621" algn="l">
              <a:lnSpc>
                <a:spcPts val="4968"/>
              </a:lnSpc>
              <a:buFont typeface="Arial"/>
              <a:buChar char="•"/>
            </a:pPr>
            <a:r>
              <a:rPr lang="en-US" sz="360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AI:</a:t>
            </a:r>
          </a:p>
          <a:p>
            <a:pPr marL="1554483" lvl="2" indent="-518161" algn="l">
              <a:lnSpc>
                <a:spcPts val="4968"/>
              </a:lnSpc>
              <a:buFont typeface="Arial"/>
              <a:buChar char="⚬"/>
            </a:pPr>
            <a:r>
              <a:rPr lang="en-US" sz="360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Jais: 10.8% (highest – frequent short connectors).</a:t>
            </a:r>
          </a:p>
          <a:p>
            <a:pPr marL="1554483" lvl="2" indent="-518161" algn="l">
              <a:lnSpc>
                <a:spcPts val="4968"/>
              </a:lnSpc>
              <a:buFont typeface="Arial"/>
              <a:buChar char="⚬"/>
            </a:pPr>
            <a:r>
              <a:rPr lang="en-US" sz="360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Allam: 9.7%, LLaMA: 8.9%, OpenAI: 8.1%.</a:t>
            </a:r>
          </a:p>
          <a:p>
            <a:pPr marL="777242" lvl="1" indent="-388621" algn="l">
              <a:lnSpc>
                <a:spcPts val="4968"/>
              </a:lnSpc>
              <a:buFont typeface="Arial"/>
              <a:buChar char="•"/>
            </a:pPr>
            <a:r>
              <a:rPr lang="en-US" sz="360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Original: 9.8% (natural use of short function words).</a:t>
            </a:r>
          </a:p>
          <a:p>
            <a:pPr algn="l">
              <a:lnSpc>
                <a:spcPts val="4968"/>
              </a:lnSpc>
            </a:pPr>
            <a:r>
              <a:rPr lang="en-US" sz="360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Insight: Human and Jais texts show richer linguistic flow; OpenAI more formal and structured.</a:t>
            </a:r>
          </a:p>
          <a:p>
            <a:pPr algn="l">
              <a:lnSpc>
                <a:spcPts val="4968"/>
              </a:lnSpc>
            </a:pPr>
            <a:r>
              <a:rPr lang="en-US" sz="360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9771232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129038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Feature Engineering Con’t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8171" y="2091105"/>
            <a:ext cx="16619549" cy="8404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399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 Sentence Count &amp; Structure</a:t>
            </a:r>
          </a:p>
          <a:p>
            <a:pPr marL="863598" lvl="1" indent="-431799" algn="l">
              <a:lnSpc>
                <a:spcPts val="5519"/>
              </a:lnSpc>
              <a:buFont typeface="Arial"/>
              <a:buChar char="•"/>
            </a:pPr>
            <a:r>
              <a:rPr lang="en-US" sz="399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AI:</a:t>
            </a:r>
          </a:p>
          <a:p>
            <a:pPr marL="863598" lvl="1" indent="-431799" algn="l">
              <a:lnSpc>
                <a:spcPts val="5519"/>
              </a:lnSpc>
              <a:buFont typeface="Arial"/>
              <a:buChar char="•"/>
            </a:pPr>
            <a:r>
              <a:rPr lang="en-US" sz="399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Allam: 4.49, Jais: 5.91, LLaMA: 5.66, OpenAI: 6.50 sentences on average.</a:t>
            </a:r>
          </a:p>
          <a:p>
            <a:pPr marL="863598" lvl="1" indent="-431799" algn="l">
              <a:lnSpc>
                <a:spcPts val="5519"/>
              </a:lnSpc>
              <a:buFont typeface="Arial"/>
              <a:buChar char="•"/>
            </a:pPr>
            <a:r>
              <a:rPr lang="en-US" sz="399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Original: 7.43 sentences (longer and more complex).</a:t>
            </a:r>
          </a:p>
          <a:p>
            <a:pPr algn="l">
              <a:lnSpc>
                <a:spcPts val="5519"/>
              </a:lnSpc>
            </a:pPr>
            <a:r>
              <a:rPr lang="en-US" sz="399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Insight: Human texts are more segmented and syntactically rich; AI outputs are concise and dense.</a:t>
            </a:r>
          </a:p>
          <a:p>
            <a:pPr algn="l">
              <a:lnSpc>
                <a:spcPts val="5519"/>
              </a:lnSpc>
            </a:pPr>
            <a:r>
              <a:rPr lang="en-US" sz="399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3. Foreign Letters Ratio</a:t>
            </a:r>
          </a:p>
          <a:p>
            <a:pPr marL="863598" lvl="1" indent="-431799" algn="l">
              <a:lnSpc>
                <a:spcPts val="5519"/>
              </a:lnSpc>
              <a:buFont typeface="Arial"/>
              <a:buChar char="•"/>
            </a:pPr>
            <a:r>
              <a:rPr lang="en-US" sz="399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</a:t>
            </a:r>
            <a:r>
              <a:rPr lang="en-US" sz="399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LLaMA: 0.98, Allam &amp; Jais: 0.49, OpenAI: 0.29.</a:t>
            </a:r>
          </a:p>
          <a:p>
            <a:pPr marL="863598" lvl="1" indent="-431799" algn="l">
              <a:lnSpc>
                <a:spcPts val="5519"/>
              </a:lnSpc>
              <a:buFont typeface="Arial"/>
              <a:buChar char="•"/>
            </a:pPr>
            <a:r>
              <a:rPr lang="en-US" sz="399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Original</a:t>
            </a:r>
            <a:r>
              <a:rPr lang="en-US" sz="399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0.83 (includes real English abbreviations or citations).</a:t>
            </a:r>
          </a:p>
          <a:p>
            <a:pPr algn="l">
              <a:lnSpc>
                <a:spcPts val="5519"/>
              </a:lnSpc>
            </a:pPr>
            <a:r>
              <a:rPr lang="en-US" sz="399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Insight: Human writing often mixes Arabic with foreign symbols; AI-generated text remains purely Arabic.</a:t>
            </a:r>
          </a:p>
          <a:p>
            <a:pPr algn="l">
              <a:lnSpc>
                <a:spcPts val="5519"/>
              </a:lnSpc>
            </a:pPr>
            <a:endParaRPr lang="en-US" sz="3999">
              <a:solidFill>
                <a:srgbClr val="FFFCF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9" name="AutoShape 9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9451369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354429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Feature Engineering Con’t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9675" y="2376509"/>
            <a:ext cx="16363083" cy="6318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399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4. Redundancy Score</a:t>
            </a:r>
          </a:p>
          <a:p>
            <a:pPr marL="863599" lvl="1" indent="-431800" algn="l">
              <a:lnSpc>
                <a:spcPts val="5519"/>
              </a:lnSpc>
              <a:buFont typeface="Arial"/>
              <a:buChar char="•"/>
            </a:pPr>
            <a:r>
              <a:rPr lang="en-US" sz="399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AI: Allam: 0.56, LLaMA: 0.55, Jais: 0.54, OpenAI: 0.52.</a:t>
            </a:r>
          </a:p>
          <a:p>
            <a:pPr marL="863599" lvl="1" indent="-431800" algn="l">
              <a:lnSpc>
                <a:spcPts val="5519"/>
              </a:lnSpc>
              <a:buFont typeface="Arial"/>
              <a:buChar char="•"/>
            </a:pPr>
            <a:r>
              <a:rPr lang="en-US" sz="399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Original: 0.39 (much lower repetition).</a:t>
            </a:r>
          </a:p>
          <a:p>
            <a:pPr algn="l">
              <a:lnSpc>
                <a:spcPts val="5519"/>
              </a:lnSpc>
            </a:pPr>
            <a:r>
              <a:rPr lang="en-US" sz="399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Insight: AI-generated abstracts are more repetitive and template-like; human writing is diverse and context-driven.</a:t>
            </a:r>
          </a:p>
          <a:p>
            <a:pPr algn="l">
              <a:lnSpc>
                <a:spcPts val="5519"/>
              </a:lnSpc>
            </a:pPr>
            <a:r>
              <a:rPr lang="en-US" sz="399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5. Vocabulary Richness (TTR)</a:t>
            </a:r>
          </a:p>
          <a:p>
            <a:pPr marL="863599" lvl="1" indent="-431800" algn="l">
              <a:lnSpc>
                <a:spcPts val="5519"/>
              </a:lnSpc>
              <a:buFont typeface="Arial"/>
              <a:buChar char="•"/>
            </a:pPr>
            <a:r>
              <a:rPr lang="en-US" sz="399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</a:t>
            </a:r>
            <a:r>
              <a:rPr lang="en-US" sz="399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0.70–0.79 range.</a:t>
            </a:r>
          </a:p>
          <a:p>
            <a:pPr marL="863599" lvl="1" indent="-431800" algn="l">
              <a:lnSpc>
                <a:spcPts val="5519"/>
              </a:lnSpc>
              <a:buFont typeface="Arial"/>
              <a:buChar char="•"/>
            </a:pPr>
            <a:r>
              <a:rPr lang="en-US" sz="399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Original</a:t>
            </a:r>
            <a:r>
              <a:rPr lang="en-US" sz="399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0.798 (highest diversity).</a:t>
            </a:r>
          </a:p>
          <a:p>
            <a:pPr algn="l">
              <a:lnSpc>
                <a:spcPts val="5519"/>
              </a:lnSpc>
            </a:pPr>
            <a:r>
              <a:rPr lang="en-US" sz="399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Insight: Human abstracts use a broader and more varied vocabulary.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9621574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295449" y="5510401"/>
            <a:ext cx="3674745" cy="2953825"/>
          </a:xfrm>
          <a:custGeom>
            <a:avLst/>
            <a:gdLst/>
            <a:ahLst/>
            <a:cxnLst/>
            <a:rect l="l" t="t" r="r" b="b"/>
            <a:pathLst>
              <a:path w="3674745" h="2953825">
                <a:moveTo>
                  <a:pt x="0" y="0"/>
                </a:moveTo>
                <a:lnTo>
                  <a:pt x="3674745" y="0"/>
                </a:lnTo>
                <a:lnTo>
                  <a:pt x="3674745" y="2953824"/>
                </a:lnTo>
                <a:lnTo>
                  <a:pt x="0" y="29538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478" r="-41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295449" y="2125276"/>
            <a:ext cx="3674745" cy="3018224"/>
          </a:xfrm>
          <a:custGeom>
            <a:avLst/>
            <a:gdLst/>
            <a:ahLst/>
            <a:cxnLst/>
            <a:rect l="l" t="t" r="r" b="b"/>
            <a:pathLst>
              <a:path w="3674745" h="3018224">
                <a:moveTo>
                  <a:pt x="0" y="0"/>
                </a:moveTo>
                <a:lnTo>
                  <a:pt x="3674745" y="0"/>
                </a:lnTo>
                <a:lnTo>
                  <a:pt x="3674745" y="3018224"/>
                </a:lnTo>
                <a:lnTo>
                  <a:pt x="0" y="30182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243" r="-4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1160475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Embeddings &amp; Data Splitting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723" y="1972876"/>
            <a:ext cx="13437726" cy="731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1"/>
              </a:lnSpc>
            </a:pPr>
            <a:r>
              <a:rPr lang="en-US" sz="355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TF-IDF (Term Frequency–Inverse Document Frequency)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Used to represent texts numerically based on word frequency.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Captures lexical patterns and stylistic differences—ideal for classical ML models.</a:t>
            </a:r>
          </a:p>
          <a:p>
            <a:pPr algn="l">
              <a:lnSpc>
                <a:spcPts val="4911"/>
              </a:lnSpc>
            </a:pPr>
            <a:r>
              <a:rPr lang="en-US" sz="355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BERT Embeddings (Contextual Representation)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Transforms text into dense vectors capturing meaning and context.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Enables deep models to understand semantics beyond surface words.</a:t>
            </a:r>
          </a:p>
          <a:p>
            <a:pPr algn="l">
              <a:lnSpc>
                <a:spcPts val="4911"/>
              </a:lnSpc>
            </a:pPr>
            <a:r>
              <a:rPr lang="en-US" sz="3559" b="1" u="none" strike="noStrike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Splitting </a:t>
            </a:r>
            <a:r>
              <a:rPr lang="en-US" sz="35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(70 / 15 / 15 : Train / Validation / Test)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Ensures fair model evaluation and prevents data leakage.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Training used for fitting, validation for tuning, and test for final performance check.</a:t>
            </a:r>
          </a:p>
        </p:txBody>
      </p:sp>
      <p:sp>
        <p:nvSpPr>
          <p:cNvPr id="11" name="AutoShape 11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92487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662696" y="6205913"/>
            <a:ext cx="8371099" cy="2941460"/>
          </a:xfrm>
          <a:custGeom>
            <a:avLst/>
            <a:gdLst/>
            <a:ahLst/>
            <a:cxnLst/>
            <a:rect l="l" t="t" r="r" b="b"/>
            <a:pathLst>
              <a:path w="8371099" h="2941460">
                <a:moveTo>
                  <a:pt x="0" y="0"/>
                </a:moveTo>
                <a:lnTo>
                  <a:pt x="8371099" y="0"/>
                </a:lnTo>
                <a:lnTo>
                  <a:pt x="8371099" y="2941460"/>
                </a:lnTo>
                <a:lnTo>
                  <a:pt x="0" y="2941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54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1261605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Balancing &amp; Feature Scaling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7723" y="2262592"/>
            <a:ext cx="16401577" cy="3813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375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SMOTE:</a:t>
            </a:r>
          </a:p>
          <a:p>
            <a:pPr marL="768469" lvl="1" indent="-384234" algn="l">
              <a:lnSpc>
                <a:spcPts val="4911"/>
              </a:lnSpc>
              <a:buFont typeface="Arial"/>
              <a:buChar char="•"/>
            </a:pPr>
            <a:r>
              <a:rPr lang="en-US" sz="355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Balanced the dataset by generating synthetic samples for the minority (human-written) class to prevent</a:t>
            </a:r>
            <a:r>
              <a:rPr lang="en-US" sz="35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model bias.</a:t>
            </a:r>
          </a:p>
          <a:p>
            <a:pPr algn="l">
              <a:lnSpc>
                <a:spcPts val="5187"/>
              </a:lnSpc>
            </a:pPr>
            <a:r>
              <a:rPr lang="en-US" sz="3759" b="1" u="none" strike="noStrike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StandardScaler: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b="1" u="none" strike="noStrike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Normalized numerical features (zero mean, unit variance) to improve model convergence and performance consistency.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3177877" y="5385148"/>
            <a:ext cx="10127328" cy="4882802"/>
          </a:xfrm>
          <a:custGeom>
            <a:avLst/>
            <a:gdLst/>
            <a:ahLst/>
            <a:cxnLst/>
            <a:rect l="l" t="t" r="r" b="b"/>
            <a:pathLst>
              <a:path w="10127328" h="4882802">
                <a:moveTo>
                  <a:pt x="0" y="0"/>
                </a:moveTo>
                <a:lnTo>
                  <a:pt x="10127328" y="0"/>
                </a:lnTo>
                <a:lnTo>
                  <a:pt x="10127328" y="4882802"/>
                </a:lnTo>
                <a:lnTo>
                  <a:pt x="0" y="4882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277" b="-32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009954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Results &amp;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0280" y="1638646"/>
            <a:ext cx="17857720" cy="310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7" lvl="1" indent="-377824" algn="l">
              <a:lnSpc>
                <a:spcPts val="4829"/>
              </a:lnSpc>
              <a:buFont typeface="Arial"/>
              <a:buChar char="•"/>
            </a:pPr>
            <a:r>
              <a:rPr lang="en-US" sz="349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TF-IDF features were more effective for traditional ML models.</a:t>
            </a:r>
          </a:p>
          <a:p>
            <a:pPr marL="755647" lvl="1" indent="-377824" algn="l">
              <a:lnSpc>
                <a:spcPts val="4829"/>
              </a:lnSpc>
              <a:buFont typeface="Arial"/>
              <a:buChar char="•"/>
            </a:pPr>
            <a:r>
              <a:rPr lang="en-US" sz="349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XGBoost provided the best balance between accuracy and interpretability.</a:t>
            </a:r>
          </a:p>
          <a:p>
            <a:pPr marL="755647" lvl="1" indent="-377824" algn="l">
              <a:lnSpc>
                <a:spcPts val="4829"/>
              </a:lnSpc>
              <a:buFont typeface="Arial"/>
              <a:buChar char="•"/>
            </a:pPr>
            <a:r>
              <a:rPr lang="en-US" sz="349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BERT embeddings worked better for deep models, improving contextual generalization.</a:t>
            </a:r>
          </a:p>
          <a:p>
            <a:pPr marL="755647" lvl="1" indent="-377824" algn="l">
              <a:lnSpc>
                <a:spcPts val="4829"/>
              </a:lnSpc>
              <a:buFont typeface="Arial"/>
              <a:buChar char="•"/>
            </a:pPr>
            <a:r>
              <a:rPr lang="en-US" sz="34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Stylometric analysis validated these results — AI-generated texts were shorter, more redundant, and structurally repetitive compared to human texts.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45812" y="1042352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9595703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062363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7272" y="1972021"/>
            <a:ext cx="17031330" cy="7254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Developed a complete Arabic AI-text detection pipeline — from data collection to model evaluation.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Built a custom Arabic preprocessing framework with normalization, diacritics removal, stemming, and lemmatization (Stanza + ISRI).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Extracted stylometric features such as sentence count, redundancy score, short-word ratio, and vocabulary richness to capture writing patterns.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Applied SMOTE to balance the dataset and StandardScaler to normalize numerical features, ensuring fair model training and consistent performance.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Compared TF-IDF (lexical) and BERT (contextual) embeddings across classical and deep learning models.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XGBoost with TF-IDF achieved the best overall performance (95.1% accuracy, 0.950 F1-score), confirming the strength of lexical features for Arabic text classification.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51403" y="3949090"/>
            <a:ext cx="10076630" cy="175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265"/>
              </a:lnSpc>
              <a:spcBef>
                <a:spcPct val="0"/>
              </a:spcBef>
            </a:pPr>
            <a:r>
              <a:rPr lang="en-US" sz="10220" b="1" spc="-306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Thanks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76200" cap="flat">
            <a:solidFill>
              <a:srgbClr val="4356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1028700" y="9248775"/>
            <a:ext cx="16139196" cy="9525"/>
          </a:xfrm>
          <a:prstGeom prst="line">
            <a:avLst/>
          </a:prstGeom>
          <a:ln w="76200" cap="flat">
            <a:solidFill>
              <a:srgbClr val="4356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Microsoft Office PowerPoint</Application>
  <PresentationFormat>Custom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Times New Roman MT</vt:lpstr>
      <vt:lpstr>Times New Roman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 Analytic Techniques</dc:title>
  <cp:lastModifiedBy>سهيله محيى محمود قطب</cp:lastModifiedBy>
  <cp:revision>3</cp:revision>
  <dcterms:created xsi:type="dcterms:W3CDTF">2006-08-16T00:00:00Z</dcterms:created>
  <dcterms:modified xsi:type="dcterms:W3CDTF">2026-01-23T10:04:06Z</dcterms:modified>
  <dc:identifier>DAG3SJ20vl0</dc:identifier>
</cp:coreProperties>
</file>